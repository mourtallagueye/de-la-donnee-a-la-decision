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Régression
logistique</c:v>
                  </c:pt>
                  <c:pt idx="1">
                    <c:v>Forêt
aléatoire</c:v>
                  </c:pt>
                  <c:pt idx="2">
                    <c:v>SVM
(RBF)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0.632</c:v>
                </c:pt>
                <c:pt idx="1">
                  <c:v>0.61</c:v>
                </c:pt>
                <c:pt idx="2">
                  <c:v>0.63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3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SUPÉRIEUR D'INFORMATIQUE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1 — DSIA  •  Cours pratique de Supervised Learning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Donnée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la Décision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du churn client — d'un jeu de données brut à une API en production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5120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MOURTALLA GUEYE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5532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Ibrahima SY — Enseignant chercheur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824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2025 –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allons voir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90195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 métier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54480" y="22677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prédire le churn, et pour qui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95351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démarche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54480" y="33192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ML en 6 missions, sans fuite de données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00507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résultats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54480" y="43708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comparés, optimisés, interprétés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74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05663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mise en production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554480" y="54223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testée, documentée, prête à l'emploi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1828800"/>
            <a:ext cx="3108960" cy="402336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2148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7 043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503920" y="2743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analysés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69680" y="3200400"/>
            <a:ext cx="2377440" cy="0"/>
          </a:xfrm>
          <a:prstGeom prst="line">
            <a:avLst/>
          </a:prstGeom>
          <a:noFill/>
          <a:ln w="12700">
            <a:solidFill>
              <a:srgbClr val="3A4A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3337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8503920" y="3840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réalisées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869680" y="4297680"/>
            <a:ext cx="2377440" cy="0"/>
          </a:xfrm>
          <a:prstGeom prst="line">
            <a:avLst/>
          </a:prstGeom>
          <a:noFill/>
          <a:ln w="12700">
            <a:solidFill>
              <a:srgbClr val="3A4A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4434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8503920" y="4937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API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Donnée à la Décision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client sur quatre finit par résilier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93192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26,5 %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clients Telco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 résilié leur contrat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4160520"/>
            <a:ext cx="2560320" cy="0"/>
          </a:xfrm>
          <a:prstGeom prst="line">
            <a:avLst/>
          </a:prstGeom>
          <a:noFill/>
          <a:ln w="12700">
            <a:solidFill>
              <a:srgbClr val="3A4A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43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15-20×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4892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d'un churn manqué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une offre envoyée à tort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109728" cy="100584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783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 métier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14884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clients à risque AVANT leur départ, pour cibler une campagne de rétention plutôt que subir la perte.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3108960"/>
            <a:ext cx="109728" cy="100584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3063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Coût asymétrique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342900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 perdu coûte 15 à 20 fois plus cher qu'une offre de rétention envoyée par erreur — cela oriente tout le projet.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4389120"/>
            <a:ext cx="109728" cy="100584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4343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 retenue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0" y="47091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F2-score : on préfère sur-cibler (rappel élevé) plutôt que laisser filer des clients à risque.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Donnée à la Décision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DÉMARCHE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missions, un fil conducteur : la rigueur avant le score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40280" y="2788920"/>
            <a:ext cx="18288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8600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376732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Coûts, métrique, seuil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2788920"/>
            <a:ext cx="18288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228600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22860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03120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376732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Profiling, insights, hypothèses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2788920"/>
            <a:ext cx="18288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228600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22860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977640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77640" y="376732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avant tout, zéro fuite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63840" y="2788920"/>
            <a:ext cx="18288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228600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22860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852160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52160" y="376732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familles, comparaison honnête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738360" y="2788920"/>
            <a:ext cx="18288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228600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0" y="22860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726680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26680" y="376732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Tuning, calibration, SHAP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21240" y="2286000"/>
            <a:ext cx="1005840" cy="10058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0" name="Text 28"/>
          <p:cNvSpPr/>
          <p:nvPr/>
        </p:nvSpPr>
        <p:spPr>
          <a:xfrm>
            <a:off x="9921240" y="22860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601200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01200" y="376732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tests, monitoring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4937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absolue : train_test_split() intervient AVANT toute imputation, tout encodage, toute mise à l'échelle — une seule transformation apprise sur le train, jamais sur le futur.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Donnée à la Décision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1 — EXPLORATION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signaux dominent le risque de départ</a:t>
            </a:r>
            <a:endParaRPr lang="en-US" sz="2800" dirty="0"/>
          </a:p>
        </p:txBody>
      </p:sp>
      <p:pic>
        <p:nvPicPr>
          <p:cNvPr id="4" name="Image 0" descr="M1_bivariate_categor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00200"/>
            <a:ext cx="5669280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1554480"/>
            <a:ext cx="5760720" cy="4343400"/>
          </a:xfrm>
          <a:prstGeom prst="roundRect">
            <a:avLst>
              <a:gd name="adj" fmla="val 1053"/>
            </a:avLst>
          </a:prstGeom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4440" y="1783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de contrat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214884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42,7 % de churn en contrat mensuel, contre 2,8 % en biannuel — le facteur le plus discriminant (information mutuelle).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34440" y="3154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Ancienneté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34440" y="352044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clients récents partent nettement plus — un vrai enjeu d'onboarding dans les premiers mois.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45720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34440" y="4526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« verrou »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34440" y="489204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sécurité en ligne ni support technique : ~42 % de churn. Avec : ~15 %. Un client équipé est un client ancré.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Donnée à la Décision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3 — MODÉLISATION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familles de modèles, une comparaison honnête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55778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69164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6656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de Wilcoxon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766560" y="21945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p-valeur = 0,625 → aucune différence statistiquement significative entre les deux meilleurs modèles.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92240" y="370332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676656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Free Lunch, en pratique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66560" y="425196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complexe (forêt aléatoire) n'est pas automatiquement meilleur qu'un modèle linéaire simple — vérifié, pas supposé.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Donnée à la Décision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4 — INTERPRÉTABILITÉ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le modèle prédit-il un départ ?</a:t>
            </a:r>
            <a:endParaRPr lang="en-US" sz="2900" dirty="0"/>
          </a:p>
        </p:txBody>
      </p:sp>
      <p:pic>
        <p:nvPicPr>
          <p:cNvPr id="4" name="Image 0" descr="M4_shap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48640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737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SHAP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0" y="2331720"/>
            <a:ext cx="109728" cy="10972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7" name="Text 4"/>
          <p:cNvSpPr/>
          <p:nvPr/>
        </p:nvSpPr>
        <p:spPr>
          <a:xfrm>
            <a:off x="6629400" y="221284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L'ancienneté (tenure) domine largement l'importance globale.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299008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contrat mensuel pousse systématiquement vers le churn.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3886200"/>
            <a:ext cx="109728" cy="10972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1" name="Text 8"/>
          <p:cNvSpPr/>
          <p:nvPr/>
        </p:nvSpPr>
        <p:spPr>
          <a:xfrm>
            <a:off x="6629400" y="376732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Explications individuelles disponibles pour chaque client : vrai positif, vrai négatif, faux positif.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0" y="4663440"/>
            <a:ext cx="109728" cy="10972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3" name="Text 10"/>
          <p:cNvSpPr/>
          <p:nvPr/>
        </p:nvSpPr>
        <p:spPr>
          <a:xfrm>
            <a:off x="6629400" y="454456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prédiction est justifiable — essentiel pour l'équipe marketing.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Donnée à la Décision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4 — CALIBRATION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probabilités fiables, un seuil pensé pour le métier</a:t>
            </a:r>
            <a:endParaRPr lang="en-US" sz="2600" dirty="0"/>
          </a:p>
        </p:txBody>
      </p:sp>
      <p:pic>
        <p:nvPicPr>
          <p:cNvPr id="4" name="Image 0" descr="M4_reliability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420624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12080" y="1691640"/>
            <a:ext cx="292608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5212080" y="1965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0,164 → 0,024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212080" y="25146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de calibration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→ après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321040" y="1691640"/>
            <a:ext cx="2926080" cy="1920240"/>
          </a:xfrm>
          <a:prstGeom prst="roundRect">
            <a:avLst>
              <a:gd name="adj" fmla="val 4762"/>
            </a:avLst>
          </a:prstGeom>
          <a:solidFill>
            <a:srgbClr val="D4A017"/>
          </a:solidFill>
          <a:ln/>
        </p:spPr>
      </p:sp>
      <p:sp>
        <p:nvSpPr>
          <p:cNvPr id="9" name="Text 6"/>
          <p:cNvSpPr/>
          <p:nvPr/>
        </p:nvSpPr>
        <p:spPr>
          <a:xfrm>
            <a:off x="8321040" y="1965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0,119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321040" y="25146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décision retenu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 lieu de 0,5)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12080" y="3794760"/>
            <a:ext cx="6035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un seuil si bas ?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0" y="434340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obtenu : 92,5 %. Puisqu'un churn manqué coûte 15 à 20 fois plus qu'une offre envoyée à tort (Mission 0), mieux vaut sur-cibler la campagne de rétention que laisser filer des clients à risque.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Donnée à la Décision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5 — DÉPLOIEMENT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notebook à un service utilisable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583680" cy="960120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9019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23042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et version du service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6583680" cy="960120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2004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004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30449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34472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de churn pour un client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6583680" cy="960120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343400"/>
            <a:ext cx="8686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434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41879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/model-info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45902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Métadonnées et performance du modèle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0" y="1828800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Qualité &amp; tests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0" y="25146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83880" y="25146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 tests pytest passants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322783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83880" y="322783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continue (GitHub Actions) : tests rejoués à chaque push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394106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83880" y="394106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sérialisé, rechargement déterministe vérifié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465429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83880" y="4654296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+ model card documentés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0" y="536752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83880" y="536752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monitoring (data / concept / performance drift)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Donnée à la Décision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CLÉS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projet livre concrètement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0,636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optimisation Optuna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1031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92,5 %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337560" y="2926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33375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classe churn, seuil optimisé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1031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126480" y="2926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33375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passants en CI (GitHub Actions)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15400" y="18288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21031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915400" y="2926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52560" y="33375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documentée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chiffre est reproductible : random_state fixé partout, pipeline unique, aucune fuite de données.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Donnée à la Décision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PERSPECTIVES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base solide, honnêtement documentée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FBF2E3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6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reconnues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 d'audit d'équité formel par sous-groupe (genre, ancienneté)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Coûts d'erreur estimés en Mission 0, à recalibrer avec de vraies données financières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Hypothèse de stationnarité non vérifiée en continu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Prochaines étapes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2423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d'équité (demographic parity, equalized odds)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33832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Monitoring en production avec Evidently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43434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Réentraînement déclenché automatiquement sur dérive de performance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Donnée à la Décision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5029200" cy="50292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rigueur d'abord, la performance ensuite.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sans fuite, un modèle interprétable, une API en production — de la donnée à la décision.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480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•  Démonstration de l'API en direct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MOURTALLA GUEYE — ISI, Master 1 DSIA — 2025 /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2026-08-25T10:47:59Z</dcterms:created>
  <dcterms:modified xsi:type="dcterms:W3CDTF">2026-08-25T10:47:59Z</dcterms:modified>
</cp:coreProperties>
</file>