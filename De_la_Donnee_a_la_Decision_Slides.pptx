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F1-score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Régression
logistique</c:v>
                  </c:pt>
                  <c:pt idx="1">
                    <c:v>Forêt
aléatoire</c:v>
                  </c:pt>
                  <c:pt idx="2">
                    <c:v>SVM
(RBF)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0.632</c:v>
                </c:pt>
                <c:pt idx="1">
                  <c:v>0.61</c:v>
                </c:pt>
                <c:pt idx="2">
                  <c:v>0.63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1" i="0" strike="noStrike" sz="13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9FC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011680"/>
            <a:ext cx="5486400" cy="5486400"/>
          </a:xfrm>
          <a:prstGeom prst="ellipse">
            <a:avLst/>
          </a:prstGeom>
          <a:solidFill>
            <a:srgbClr val="141B49"/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572000"/>
            <a:ext cx="4572000" cy="4572000"/>
          </a:xfrm>
          <a:prstGeom prst="ellipse">
            <a:avLst/>
          </a:prstGeom>
          <a:solidFill>
            <a:srgbClr val="141B49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SUPÉRIEUR D'INFORMATIQUE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00584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1 — DSIA  •  Cours pratique de Supervised Learning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8686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Donnée</a:t>
            </a:r>
            <a:endParaRPr lang="en-US" sz="54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la Décision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822960" y="4160520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du churn client — d'un jeu de données brut à une API en production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512064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MOURTALLA GUEYE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55321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Encadrant : Ibrahima SY — Enseignant chercheur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582472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Année universitaire 2025 –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nous allons voir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54480" y="190195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problème métier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554480" y="226771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prédire le churn, et pour qui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97180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971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295351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démarche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554480" y="331927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pipeline ML en 6 missions, sans fuite de données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23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023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00507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résultats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554480" y="437083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comparés, optimisés, interprétés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74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505663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mise en production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554480" y="54223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testée, documentée, prête à l'emploi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503920" y="1828800"/>
            <a:ext cx="3108960" cy="4023360"/>
          </a:xfrm>
          <a:prstGeom prst="roundRect">
            <a:avLst>
              <a:gd name="adj" fmla="val 3529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8503920" y="2148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7 043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8503920" y="27432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analysés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869680" y="3200400"/>
            <a:ext cx="2377440" cy="0"/>
          </a:xfrm>
          <a:prstGeom prst="line">
            <a:avLst/>
          </a:prstGeom>
          <a:noFill/>
          <a:ln w="12700">
            <a:solidFill>
              <a:srgbClr val="3A4A8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0" y="333756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8503920" y="38404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missions réalisées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869680" y="4297680"/>
            <a:ext cx="2377440" cy="0"/>
          </a:xfrm>
          <a:prstGeom prst="line">
            <a:avLst/>
          </a:prstGeom>
          <a:noFill/>
          <a:ln w="12700">
            <a:solidFill>
              <a:srgbClr val="3A4A8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0" y="44348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8503920" y="49377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API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Donnée à la Décision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client sur quatre finit par résilier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291840" cy="3931920"/>
          </a:xfrm>
          <a:prstGeom prst="roundRect">
            <a:avLst>
              <a:gd name="adj" fmla="val 2778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2860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26,5 %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548640" y="324612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clients Telco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 résilié leur contrat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4160520"/>
            <a:ext cx="2560320" cy="0"/>
          </a:xfrm>
          <a:prstGeom prst="line">
            <a:avLst/>
          </a:prstGeom>
          <a:noFill/>
          <a:ln w="12700">
            <a:solidFill>
              <a:srgbClr val="3A4A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34340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15-20×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48920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coût d'un churn manqué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une offre envoyée à tort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828800"/>
            <a:ext cx="109728" cy="1005840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17830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Objectif métier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72000" y="2148840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 les clients à risque AVANT leur départ, pour cibler une campagne de rétention plutôt que subir la perte.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297680" y="3108960"/>
            <a:ext cx="109728" cy="1005840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0" y="30632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Coût asymétrique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72000" y="3429000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client perdu coûte 15 à 20 fois plus cher qu'une offre de rétention envoyée par erreur — cela oriente tout le projet.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297680" y="4389120"/>
            <a:ext cx="109728" cy="1005840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434340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Métrique retenue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72000" y="4709160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F2-score : on préfère sur-cibler (rappel élevé) plutôt que laisser filer des clients à risque.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Donnée à la Décision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DÉMARCHE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missions, un fil conducteur : la rigueur avant le score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40280" y="2788920"/>
            <a:ext cx="18288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286000"/>
            <a:ext cx="1005840" cy="10058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28600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M0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28600" y="3429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Cadrage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28600" y="3767328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Coûts, métrique, seuil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114800" y="2788920"/>
            <a:ext cx="18288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23160" y="2286000"/>
            <a:ext cx="1005840" cy="10058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228600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103120" y="3429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03120" y="3767328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Profiling, insights, hypothèses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89320" y="2788920"/>
            <a:ext cx="18288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97680" y="2286000"/>
            <a:ext cx="1005840" cy="10058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4297680" y="228600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M2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977640" y="3429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977640" y="3767328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avant tout, zéro fuite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863840" y="2788920"/>
            <a:ext cx="18288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72200" y="2286000"/>
            <a:ext cx="1005840" cy="10058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6172200" y="228600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852160" y="3429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852160" y="3767328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familles, comparaison honnête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738360" y="2788920"/>
            <a:ext cx="18288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0" y="2286000"/>
            <a:ext cx="1005840" cy="10058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0" y="228600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726680" y="3429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726680" y="3767328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Tuning, calibration, SHAP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921240" y="2286000"/>
            <a:ext cx="1005840" cy="100584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0" name="Text 28"/>
          <p:cNvSpPr/>
          <p:nvPr/>
        </p:nvSpPr>
        <p:spPr>
          <a:xfrm>
            <a:off x="9921240" y="228600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M5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9601200" y="3429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601200" y="3767328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API, tests, monitoring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48640" y="493776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34" name="Text 32"/>
          <p:cNvSpPr/>
          <p:nvPr/>
        </p:nvSpPr>
        <p:spPr>
          <a:xfrm>
            <a:off x="868680" y="493776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absolue : train_test_split() intervient AVANT toute imputation, tout encodage, toute mise à l'échelle — une seule transformation apprise sur le train, jamais sur le futur.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Donnée à la Décision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1 — EXPLORATION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signaux dominent le risque de départ</a:t>
            </a:r>
            <a:endParaRPr lang="en-US" sz="2800" dirty="0"/>
          </a:p>
        </p:txBody>
      </p:sp>
      <p:pic>
        <p:nvPicPr>
          <p:cNvPr id="4" name="Image 0" descr="M1_bivariate_categor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600200"/>
            <a:ext cx="5669280" cy="4251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89320" y="1554480"/>
            <a:ext cx="5760720" cy="4343400"/>
          </a:xfrm>
          <a:prstGeom prst="roundRect">
            <a:avLst>
              <a:gd name="adj" fmla="val 1053"/>
            </a:avLst>
          </a:prstGeom>
          <a:ln w="19050">
            <a:solidFill>
              <a:srgbClr val="CADCF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234440" y="17830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 de contrat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234440" y="2148840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42,7 % de churn en contrat mensuel, contre 2,8 % en biannuel — le facteur le plus discriminant (information mutuelle).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320040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34440" y="31546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Ancienneté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234440" y="3520440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clients récents partent nettement plus — un vrai enjeu d'onboarding dans les premiers mois.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457200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4572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34440" y="45262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Services « verrou »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234440" y="4892040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sécurité en ligne ni support technique : ~42 % de churn. Avec : ~15 %. Un client équipé est un client ancré.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Donnée à la Décision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3 — MODÉLISATION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familles de modèles, une comparaison honnête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91640"/>
          <a:ext cx="55778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92240" y="1691640"/>
            <a:ext cx="512064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76656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de Wilcoxon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766560" y="219456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p-valeur = 0,625 → aucune différence statistiquement significative entre les deux meilleurs modèles.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92240" y="3703320"/>
            <a:ext cx="5120640" cy="1920240"/>
          </a:xfrm>
          <a:prstGeom prst="roundRect">
            <a:avLst>
              <a:gd name="adj" fmla="val 4762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6766560" y="3886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Free Lunch, en pratique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766560" y="425196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modèle complexe (forêt aléatoire) n'est pas automatiquement meilleur qu'un modèle linéaire simple — vérifié, pas supposé.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Donnée à la Décision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4 — INTERPRÉTABILITÉ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Pourquoi le modèle prédit-il un départ ?</a:t>
            </a:r>
            <a:endParaRPr lang="en-US" sz="2900" dirty="0"/>
          </a:p>
        </p:txBody>
      </p:sp>
      <p:pic>
        <p:nvPicPr>
          <p:cNvPr id="4" name="Image 0" descr="M4_shap_summ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5486400" cy="4206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0" y="17373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Analyse SHAP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400800" y="2331720"/>
            <a:ext cx="109728" cy="109728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7" name="Text 4"/>
          <p:cNvSpPr/>
          <p:nvPr/>
        </p:nvSpPr>
        <p:spPr>
          <a:xfrm>
            <a:off x="6629400" y="2212848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L'ancienneté (tenure) domine largement l'importance globale.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0" y="3108960"/>
            <a:ext cx="109728" cy="109728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9" name="Text 6"/>
          <p:cNvSpPr/>
          <p:nvPr/>
        </p:nvSpPr>
        <p:spPr>
          <a:xfrm>
            <a:off x="6629400" y="2990088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contrat mensuel pousse systématiquement vers le churn.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0" y="3886200"/>
            <a:ext cx="109728" cy="109728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1" name="Text 8"/>
          <p:cNvSpPr/>
          <p:nvPr/>
        </p:nvSpPr>
        <p:spPr>
          <a:xfrm>
            <a:off x="6629400" y="3767328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Explications individuelles disponibles pour chaque client : vrai positif, vrai négatif, faux positif.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400800" y="4663440"/>
            <a:ext cx="109728" cy="109728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3" name="Text 10"/>
          <p:cNvSpPr/>
          <p:nvPr/>
        </p:nvSpPr>
        <p:spPr>
          <a:xfrm>
            <a:off x="6629400" y="4544568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prédiction est justifiable — essentiel pour l'équipe marketing.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Donnée à la Décision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4 — CALIBRATION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probabilités fiables, un seuil pensé pour le métier</a:t>
            </a:r>
            <a:endParaRPr lang="en-US" sz="2600" dirty="0"/>
          </a:p>
        </p:txBody>
      </p:sp>
      <p:pic>
        <p:nvPicPr>
          <p:cNvPr id="4" name="Image 0" descr="M4_reliability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420624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212080" y="1691640"/>
            <a:ext cx="2926080" cy="1920240"/>
          </a:xfrm>
          <a:prstGeom prst="roundRect">
            <a:avLst>
              <a:gd name="adj" fmla="val 4762"/>
            </a:avLst>
          </a:prstGeom>
          <a:solidFill>
            <a:srgbClr val="1E2761"/>
          </a:solidFill>
          <a:ln/>
        </p:spPr>
      </p:sp>
      <p:sp>
        <p:nvSpPr>
          <p:cNvPr id="6" name="Text 3"/>
          <p:cNvSpPr/>
          <p:nvPr/>
        </p:nvSpPr>
        <p:spPr>
          <a:xfrm>
            <a:off x="5212080" y="19659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0,164 → 0,024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5212080" y="251460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de calibration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→ après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321040" y="1691640"/>
            <a:ext cx="2926080" cy="1920240"/>
          </a:xfrm>
          <a:prstGeom prst="roundRect">
            <a:avLst>
              <a:gd name="adj" fmla="val 4762"/>
            </a:avLst>
          </a:prstGeom>
          <a:solidFill>
            <a:srgbClr val="D4A017"/>
          </a:solidFill>
          <a:ln/>
        </p:spPr>
      </p:sp>
      <p:sp>
        <p:nvSpPr>
          <p:cNvPr id="9" name="Text 6"/>
          <p:cNvSpPr/>
          <p:nvPr/>
        </p:nvSpPr>
        <p:spPr>
          <a:xfrm>
            <a:off x="8321040" y="19659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0,119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321040" y="251460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de décision retenu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 lieu de 0,5)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212080" y="3794760"/>
            <a:ext cx="60350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0" y="3977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Pourquoi un seuil si bas ?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486400" y="4343400"/>
            <a:ext cx="5486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obtenu : 92,5 %. Puisqu'un churn manqué coûte 15 à 20 fois plus qu'une offre envoyée à tort (Mission 0), mieux vaut sur-cibler la campagne de rétention que laisser filer des clients à risque.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Donnée à la Décision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5 — DÉPLOIEMENT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notebook à un service utilisable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6583680" cy="960120"/>
          </a:xfrm>
          <a:prstGeom prst="roundRect">
            <a:avLst>
              <a:gd name="adj" fmla="val 7619"/>
            </a:avLst>
          </a:prstGeom>
          <a:solidFill>
            <a:srgbClr val="F7F9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5740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5740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828800" y="1901952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/health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828800" y="230428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 et version du service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6583680" cy="960120"/>
          </a:xfrm>
          <a:prstGeom prst="roundRect">
            <a:avLst>
              <a:gd name="adj" fmla="val 7619"/>
            </a:avLst>
          </a:prstGeom>
          <a:solidFill>
            <a:srgbClr val="F7F9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20040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D4A017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20040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828800" y="3044952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/predict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828800" y="344728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Probabilité de churn pour un client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114800"/>
            <a:ext cx="6583680" cy="960120"/>
          </a:xfrm>
          <a:prstGeom prst="roundRect">
            <a:avLst>
              <a:gd name="adj" fmla="val 7619"/>
            </a:avLst>
          </a:prstGeom>
          <a:solidFill>
            <a:srgbClr val="F7F9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434340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34340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828800" y="4187952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/model-info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828800" y="459028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Métadonnées et performance du modèle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498080" y="1828800"/>
            <a:ext cx="4114800" cy="4114800"/>
          </a:xfrm>
          <a:prstGeom prst="roundRect">
            <a:avLst>
              <a:gd name="adj" fmla="val 2222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0" y="2057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Qualité &amp; tests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772400" y="26060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183880" y="260604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 tests pytest passants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772400" y="34747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183880" y="347472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sérialisé, rechargement déterministe vérifié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772400" y="4343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183880" y="434340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+ model card documentés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772400" y="52120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183880" y="521208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monitoring (data / concept / performance drift)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Donnée à la Décision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CLÉS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le projet livre concrètement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10312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0,636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292608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33375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optimisation Optuna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82880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210312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92,5 %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337560" y="292608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74720" y="33375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la classe churn, seuil optimisé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82880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210312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/ 6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126480" y="292608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63640" y="33375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passants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15400" y="182880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15400" y="210312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8915400" y="292608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052560" y="33375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FastAPI documentée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4937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chiffre est reproductible : random_state fixé partout, pipeline unique, aucune fuite de données.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Donnée à la Décision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&amp; PERSPECTIVES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base solide, honnêtement documentée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03520" cy="3931920"/>
          </a:xfrm>
          <a:prstGeom prst="roundRect">
            <a:avLst>
              <a:gd name="adj" fmla="val 2326"/>
            </a:avLst>
          </a:prstGeom>
          <a:solidFill>
            <a:srgbClr val="FBF2E3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6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reconnues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Pas d'audit d'équité formel par sous-groupe (genre, ancienneté)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38328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Coûts d'erreur estimés en Mission 0, à recalibrer avec de vraies données financières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34340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Hypothèse de stationnarité non vérifiée en continu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5303520" cy="3931920"/>
          </a:xfrm>
          <a:prstGeom prst="roundRect">
            <a:avLst>
              <a:gd name="adj" fmla="val 2326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Prochaines étapes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83680" y="242316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Audit d'équité (demographic parity, equalized odds)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338328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Monitoring en production avec Evidently AI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434340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Réentraînement déclenché automatiquement sur dérive de performance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Donnée à la Décision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5486400" cy="5486400"/>
          </a:xfrm>
          <a:prstGeom prst="ellipse">
            <a:avLst/>
          </a:prstGeom>
          <a:solidFill>
            <a:srgbClr val="141B49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4114800"/>
            <a:ext cx="5029200" cy="5029200"/>
          </a:xfrm>
          <a:prstGeom prst="ellipse">
            <a:avLst/>
          </a:prstGeom>
          <a:solidFill>
            <a:srgbClr val="141B49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28600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rigueur d'abord, la performance ensuite.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42900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pipeline sans fuite, un modèle interprétable, une API en production — de la donnée à la décision.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44805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de votre attention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5074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 •  Démonstration de l'API en direct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63093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MOURTALLA GUEYE — ISI, Master 1 DSIA — 2025 /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2026-08-25T10:05:55Z</dcterms:created>
  <dcterms:modified xsi:type="dcterms:W3CDTF">2026-08-25T10:05:55Z</dcterms:modified>
</cp:coreProperties>
</file>